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26280" cy="6858000"/>
          </a:xfrm>
          <a:prstGeom prst="rect">
            <a:avLst/>
          </a:prstGeom>
          <a:solidFill>
            <a:srgbClr val="293B41"/>
          </a:solidFill>
          <a:ln>
            <a:solidFill>
              <a:srgbClr val="29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4AF49"/>
                </a:solidFill>
                <a:latin typeface="Aptos"/>
              </a:rPr>
              <a:t>Shelf / Framework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3566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 Display"/>
              </a:rPr>
              <a:t>从 Framework 到 Code</a:t>
            </a:r>
            <a:br/>
            <a:r>
              <a:t>再从 Code 反查回上游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3474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E7EAED"/>
                </a:solidFill>
                <a:latin typeface="Aptos"/>
              </a:rPr>
              <a:t>这份 PPT 对应当前 knowledge_base_basic 主链。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E7EAED"/>
                </a:solidFill>
                <a:latin typeface="Aptos"/>
              </a:rPr>
              <a:t>目标不是讲概念，而是让人顺着文件追到一一对应。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E7EAED"/>
                </a:solidFill>
                <a:latin typeface="Aptos"/>
              </a:rPr>
              <a:t>主线是：Framework -&gt; Product Spec -&gt; Implementation Config -&gt; Code -&gt; Evidence。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685800"/>
            <a:ext cx="288036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92040" y="685800"/>
            <a:ext cx="2880360" cy="128016"/>
          </a:xfrm>
          <a:prstGeom prst="rect">
            <a:avLst/>
          </a:prstGeom>
          <a:solidFill>
            <a:srgbClr val="E85B40"/>
          </a:solidFill>
          <a:ln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0056" y="850392"/>
            <a:ext cx="26243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唯一生成入口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0056" y="1143000"/>
            <a:ext cx="2624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project_runtime.knowledge_base.materialize_knowledge_base_project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685800"/>
            <a:ext cx="352044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685800"/>
            <a:ext cx="3520440" cy="128016"/>
          </a:xfrm>
          <a:prstGeom prst="rect">
            <a:avLst/>
          </a:prstGeom>
          <a:solidFill>
            <a:srgbClr val="287476"/>
          </a:solidFill>
          <a:ln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850392"/>
            <a:ext cx="326440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框架输入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1143000"/>
            <a:ext cx="32644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framework/frontend/L2-M0-前端框架标准模块.md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framework/knowledge_base/L2-M0-知识库工作台场景模块.md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framework/backend/L2-M0-知识库接口框架标准模块.md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2377440"/>
            <a:ext cx="66751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92040" y="2377440"/>
            <a:ext cx="6675120" cy="128016"/>
          </a:xfrm>
          <a:prstGeom prst="rect">
            <a:avLst/>
          </a:prstGeom>
          <a:solidFill>
            <a:srgbClr val="E4AF49"/>
          </a:solidFill>
          <a:ln>
            <a:solidFill>
              <a:srgbClr val="E4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0056" y="2542032"/>
            <a:ext cx="64190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这份 PPT 重点解释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0056" y="2834640"/>
            <a:ext cx="641908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1. framework markdown 如何编成 framework_ir.json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2. product_spec / implementation_config 如何收敛成 KnowledgeBaseProject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3. contract / ui_spec / backend_spec 如何继续驱动 runtime code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4. governed_symbol + governance manifest/tree 如何把代码拉回上游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4892040"/>
            <a:ext cx="667512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5175504"/>
            <a:ext cx="6309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1262D"/>
                </a:solidFill>
                <a:latin typeface="Aptos"/>
              </a:rPr>
              <a:t>阅读方法：不要先盯某个函数，看“文件链”和“对象链”更快。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771"/>
                </a:solidFill>
                <a:latin typeface="Aptos"/>
              </a:rPr>
              <a:t>生成依据：projects/knowledge_base_basic/generated/* 与当前 runtime / governance 主链。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5B40"/>
                </a:solidFill>
                <a:latin typeface="Aptos"/>
              </a:rPr>
              <a:t>01 / 总链路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1262D"/>
                </a:solidFill>
                <a:latin typeface="Aptos Display"/>
              </a:rPr>
              <a:t>先看一条主链：上游真相如何逐层收敛，下游代码如何只消费编译结果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16771"/>
                </a:solidFill>
                <a:latin typeface="Aptos"/>
              </a:rPr>
              <a:t>这里最重要的不是文件多，而是每层职责边界不反向污染。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737360" cy="914400"/>
          </a:xfrm>
          <a:prstGeom prst="roundRect">
            <a:avLst/>
          </a:prstGeom>
          <a:solidFill>
            <a:srgbClr val="E85B40"/>
          </a:solidFill>
          <a:ln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93392"/>
            <a:ext cx="1517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共同结构语言</a:t>
            </a:r>
            <a:br/>
            <a:r>
              <a:t>framework/*.md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7440" y="2286000"/>
            <a:ext cx="137159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14599" y="1828800"/>
            <a:ext cx="1737360" cy="914400"/>
          </a:xfrm>
          <a:prstGeom prst="roundRect">
            <a:avLst/>
          </a:prstGeom>
          <a:solidFill>
            <a:srgbClr val="287476"/>
          </a:solidFill>
          <a:ln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24327" y="1993392"/>
            <a:ext cx="1517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产品真相</a:t>
            </a:r>
            <a:br/>
            <a:r>
              <a:t>product_spec.toml + product_spec/*.toml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51959" y="2286000"/>
            <a:ext cx="137159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18" y="1828800"/>
            <a:ext cx="1737360" cy="914400"/>
          </a:xfrm>
          <a:prstGeom prst="roundRect">
            <a:avLst/>
          </a:prstGeom>
          <a:solidFill>
            <a:srgbClr val="E4AF49"/>
          </a:solidFill>
          <a:ln>
            <a:solidFill>
              <a:srgbClr val="E4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6" y="1993392"/>
            <a:ext cx="1517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实现细化</a:t>
            </a:r>
            <a:br/>
            <a:r>
              <a:t>implementation_config.toml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26478" y="2286000"/>
            <a:ext cx="137159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63637" y="1828800"/>
            <a:ext cx="1737360" cy="914400"/>
          </a:xfrm>
          <a:prstGeom prst="roundRect">
            <a:avLst/>
          </a:prstGeom>
          <a:solidFill>
            <a:srgbClr val="293B41"/>
          </a:solidFill>
          <a:ln>
            <a:solidFill>
              <a:srgbClr val="29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5" y="1993392"/>
            <a:ext cx="1517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KnowledgeBaseProject</a:t>
            </a:r>
            <a:br/>
            <a:r>
              <a:t>contract / spec / route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00997" y="2286000"/>
            <a:ext cx="137159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38156" y="1828800"/>
            <a:ext cx="1737360" cy="914400"/>
          </a:xfrm>
          <a:prstGeom prst="roundRect">
            <a:avLst/>
          </a:prstGeom>
          <a:solidFill>
            <a:srgbClr val="37846C"/>
          </a:solidFill>
          <a:ln>
            <a:solidFill>
              <a:srgbClr val="378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4" y="1993392"/>
            <a:ext cx="1517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runtime app / pages / api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75516" y="2286000"/>
            <a:ext cx="137159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12675" y="1828800"/>
            <a:ext cx="1737360" cy="914400"/>
          </a:xfrm>
          <a:prstGeom prst="roundRect">
            <a:avLst/>
          </a:prstGeom>
          <a:solidFill>
            <a:srgbClr val="C57E28"/>
          </a:solidFill>
          <a:ln>
            <a:solidFill>
              <a:srgbClr val="C5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22403" y="1993392"/>
            <a:ext cx="1517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generated/* + governance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3246120"/>
            <a:ext cx="46634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3246120"/>
            <a:ext cx="4663440" cy="128016"/>
          </a:xfrm>
          <a:prstGeom prst="rect">
            <a:avLst/>
          </a:prstGeom>
          <a:solidFill>
            <a:srgbClr val="E85B40"/>
          </a:solidFill>
          <a:ln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" y="3410712"/>
            <a:ext cx="440740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这一层层分别做什么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" y="3703320"/>
            <a:ext cx="440740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Framework：定义能力、边界、基、规则、验证。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Product Spec：决定这个项目到底是哪一个具体产品。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Implementation Config：决定这个产品走哪条实现路径。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Compiled Project：把上游三层压成代码可以消费的稳定结构块。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3246120"/>
            <a:ext cx="553212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06440" y="3246120"/>
            <a:ext cx="5532120" cy="128016"/>
          </a:xfrm>
          <a:prstGeom prst="rect">
            <a:avLst/>
          </a:prstGeom>
          <a:solidFill>
            <a:srgbClr val="287476"/>
          </a:solidFill>
          <a:ln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34456" y="3410712"/>
            <a:ext cx="52760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当前可直接核对的证据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34456" y="3703320"/>
            <a:ext cx="527608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resolved_modules = 18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configuration_effects = 15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generated files = 8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所有这些都不是手写说明，而是生成产物的一部分。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771"/>
                </a:solidFill>
                <a:latin typeface="Aptos"/>
              </a:rPr>
              <a:t>关键判断：runtime 不是新真相源，而是 KnowledgeBaseProject 的消费者。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5B40"/>
                </a:solidFill>
                <a:latin typeface="Aptos"/>
              </a:rPr>
              <a:t>02 / 编译入口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1262D"/>
                </a:solidFill>
                <a:latin typeface="Aptos Display"/>
              </a:rPr>
              <a:t>knowledge_base.py 是当前知识库模板的编译器，不是普通工具函数集合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16771"/>
                </a:solidFill>
                <a:latin typeface="Aptos"/>
              </a:rPr>
              <a:t>它把 framework IR、产品真相和实现细化收成一个 KnowledgeBaseProject，再继续派生 contract / spec / evidence。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274320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2743200" cy="128016"/>
          </a:xfrm>
          <a:prstGeom prst="rect">
            <a:avLst/>
          </a:prstGeom>
          <a:solidFill>
            <a:srgbClr val="E85B40"/>
          </a:solidFill>
          <a:ln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764792"/>
            <a:ext cx="24871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057400"/>
            <a:ext cx="248716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_load_product_spec()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_load_implementation_config()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_resolve_framework_module()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_collect_framework_closure()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1600200"/>
            <a:ext cx="365760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9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94760" y="1600200"/>
            <a:ext cx="3657600" cy="128016"/>
          </a:xfrm>
          <a:prstGeom prst="rect">
            <a:avLst/>
          </a:prstGeom>
          <a:solidFill>
            <a:srgbClr val="293B41"/>
          </a:solidFill>
          <a:ln>
            <a:solidFill>
              <a:srgbClr val="29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22776" y="1764792"/>
            <a:ext cx="34015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核心收敛点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2776" y="2057400"/>
            <a:ext cx="340156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_compile_project()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KnowledgeBaseProject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frontend_contract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workbench_contract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ui_spec / backend_spec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600200"/>
            <a:ext cx="3749039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78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0" y="1600200"/>
            <a:ext cx="3749039" cy="128016"/>
          </a:xfrm>
          <a:prstGeom prst="rect">
            <a:avLst/>
          </a:prstGeom>
          <a:solidFill>
            <a:srgbClr val="37846C"/>
          </a:solidFill>
          <a:ln>
            <a:solidFill>
              <a:srgbClr val="378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46136" y="1764792"/>
            <a:ext cx="3493007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证据出口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46136" y="2057400"/>
            <a:ext cx="3493007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materialize_knowledge_base_project()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framework_ir.json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generation_manifest.json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governance_manifest.json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governance_tree.json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83280" y="2395728"/>
            <a:ext cx="411480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52360" y="2395728"/>
            <a:ext cx="365760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97280" y="3794760"/>
            <a:ext cx="1005840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3794760"/>
            <a:ext cx="10058400" cy="128016"/>
          </a:xfrm>
          <a:prstGeom prst="rect">
            <a:avLst/>
          </a:prstGeom>
          <a:solidFill>
            <a:srgbClr val="E4AF49"/>
          </a:solidFill>
          <a:ln>
            <a:solidFill>
              <a:srgbClr val="E4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25296" y="3959352"/>
            <a:ext cx="9802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你顺着文件看时，重点盯这几个函数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4251960"/>
            <a:ext cx="980236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load_knowledge_base_project()：把配置读成显式结构块。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_compile_project()：把上游真相压成 KnowledgeBaseProject。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_build_backend_spec() / _build_ui_spec()：把项目对象继续压成运行时规格。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materialize_knowledge_base_project()：把结果固化成 generated/*。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771"/>
                </a:solidFill>
                <a:latin typeface="Aptos"/>
              </a:rPr>
              <a:t>当前主入口：src/project_runtime/knowledge_base.py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5B40"/>
                </a:solidFill>
                <a:latin typeface="Aptos"/>
              </a:rPr>
              <a:t>03 / 配置即功能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1262D"/>
                </a:solidFill>
                <a:latin typeface="Aptos Display"/>
              </a:rPr>
              <a:t>Implementation Config 不是写着好看，它必须进入下游生效位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16771"/>
                </a:solidFill>
                <a:latin typeface="Aptos"/>
              </a:rPr>
              <a:t>仓库当前用 generation_manifest.configuration_effects 把这件事固化成可追踪证据。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2004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3200400" cy="128016"/>
          </a:xfrm>
          <a:prstGeom prst="rect">
            <a:avLst/>
          </a:prstGeom>
          <a:solidFill>
            <a:srgbClr val="E85B40"/>
          </a:solidFill>
          <a:ln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64792"/>
            <a:ext cx="2944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implementation_config 字段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57400"/>
            <a:ext cx="2944368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frontend.renderer = knowledge_chat_client_v1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frontend.style_profile = knowledge_chat_web_v1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frontend.script_profile = knowledge_chat_browser_v1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backend.renderer = knowledge_chat_backend_v1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backend.transport = http_json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backend.retrieval_strategy = retrieval_stub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evidence.product_spec_endpoint = /api/knowledge/product-spec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artifacts.framework_ir_json = framework_ir.json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600200"/>
            <a:ext cx="288036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600200"/>
            <a:ext cx="2880360" cy="128016"/>
          </a:xfrm>
          <a:prstGeom prst="rect">
            <a:avLst/>
          </a:prstGeom>
          <a:solidFill>
            <a:srgbClr val="287476"/>
          </a:solidFill>
          <a:ln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1764792"/>
            <a:ext cx="26243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下游生效位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057400"/>
            <a:ext cx="2624328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ui_spec.implementation.frontend_renderer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ui_spec.implementation.style_profile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ui_spec.implementation.script_profile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backend_spec.implementation.backend_renderer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backend_spec.transport.mode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backend_spec.retrieval.strategy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backend_spec.transport.product_spec_endpoint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generated_artifacts.framework_ir_json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600200"/>
            <a:ext cx="34290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09560" y="1600200"/>
            <a:ext cx="3429000" cy="128016"/>
          </a:xfrm>
          <a:prstGeom prst="rect">
            <a:avLst/>
          </a:prstGeom>
          <a:solidFill>
            <a:srgbClr val="E4AF49"/>
          </a:solidFill>
          <a:ln>
            <a:solidFill>
              <a:srgbClr val="E4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7576" y="1764792"/>
            <a:ext cx="31729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检查方式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7576" y="2057400"/>
            <a:ext cx="3172968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build_implementation_effect_manifest(project)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generation_manifest.configuration_effects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validate_strict_mapping.py 逐条比较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只在 bundle 里重复保存 config 本身，不算生效。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31920" y="3611880"/>
            <a:ext cx="594360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06640" y="3611880"/>
            <a:ext cx="502920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771"/>
                </a:solidFill>
                <a:latin typeface="Aptos"/>
              </a:rPr>
              <a:t>关键例子：evidence.product_spec_endpoint -&gt; backend_spec.transport.product_spec_endpoint -&gt; runtime app route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5B40"/>
                </a:solidFill>
                <a:latin typeface="Aptos"/>
              </a:rPr>
              <a:t>04 / 运行时落点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1262D"/>
                </a:solidFill>
                <a:latin typeface="Aptos Display"/>
              </a:rPr>
              <a:t>runtime code 不是再推导一次产品真相，而是只消费 contract / spec /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16771"/>
                </a:solidFill>
                <a:latin typeface="Aptos"/>
              </a:rPr>
              <a:t>所以你要看代码落点时，不是从 HTML 模板往回猜，而是先看它吃哪份编译结果。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283464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2834640" cy="128016"/>
          </a:xfrm>
          <a:prstGeom prst="rect">
            <a:avLst/>
          </a:prstGeom>
          <a:solidFill>
            <a:srgbClr val="E85B40"/>
          </a:solidFill>
          <a:ln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856232"/>
            <a:ext cx="257860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app.py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148840"/>
            <a:ext cx="2578608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build_knowledge_base_runtime_app()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消费 route + backend_spec.transport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挂 chat_home / list / detail / product-spec 路由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高风险对象：kb.runtime.page_routes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1691640"/>
            <a:ext cx="356616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94760" y="1691640"/>
            <a:ext cx="3566160" cy="128016"/>
          </a:xfrm>
          <a:prstGeom prst="rect">
            <a:avLst/>
          </a:prstGeom>
          <a:solidFill>
            <a:srgbClr val="287476"/>
          </a:solidFill>
          <a:ln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22776" y="1856232"/>
            <a:ext cx="33101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frontend.py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2776" y="2148840"/>
            <a:ext cx="3310128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消费 ui_spec + frontend_contract + workbench_contract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输出聊天页、知识库列表页、详情页、文档页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页面结构并不自己定义 product truth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691640"/>
            <a:ext cx="365760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78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1691640"/>
            <a:ext cx="3657600" cy="128016"/>
          </a:xfrm>
          <a:prstGeom prst="rect">
            <a:avLst/>
          </a:prstGeom>
          <a:solidFill>
            <a:srgbClr val="37846C"/>
          </a:solidFill>
          <a:ln>
            <a:solidFill>
              <a:srgbClr val="378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63256" y="1856232"/>
            <a:ext cx="34015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backend.py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63256" y="2148840"/>
            <a:ext cx="3401568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消费 backend_spec + documents + return policy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暴露 library contracts / chat contracts / answer behavior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高风险对象：kb.api.library_contracts / kb.api.chat_contract / kb.answer.behavior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20440" y="3291840"/>
            <a:ext cx="274320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360920" y="3291840"/>
            <a:ext cx="274320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97280" y="5257800"/>
            <a:ext cx="996696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9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5257800"/>
            <a:ext cx="9966960" cy="128016"/>
          </a:xfrm>
          <a:prstGeom prst="rect">
            <a:avLst/>
          </a:prstGeom>
          <a:solidFill>
            <a:srgbClr val="293B41"/>
          </a:solidFill>
          <a:ln>
            <a:solidFill>
              <a:srgbClr val="29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25296" y="5422392"/>
            <a:ext cx="9710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关键判断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5715000"/>
            <a:ext cx="97109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如果某个运行时函数绑定了 governed_symbol，就可以再顺着 governance manifest 把它拉回 framework / product / implementation。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771"/>
                </a:solidFill>
                <a:latin typeface="Aptos"/>
              </a:rPr>
              <a:t>直接打开：src/knowledge_base_runtime/app.py, frontend.py, backend.py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5B40"/>
                </a:solidFill>
                <a:latin typeface="Aptos"/>
              </a:rPr>
              <a:t>05 / 反查链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1262D"/>
                </a:solidFill>
                <a:latin typeface="Aptos Display"/>
              </a:rPr>
              <a:t>代码不是靠人工记忆对应上游，而是靠 governed_symbol + governance 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16771"/>
                </a:solidFill>
                <a:latin typeface="Aptos"/>
              </a:rPr>
              <a:t>这条链决定了代码改动后，仓库可以反过来检查上游有没有对应项。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24612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3246120" cy="128016"/>
          </a:xfrm>
          <a:prstGeom prst="rect">
            <a:avLst/>
          </a:prstGeom>
          <a:solidFill>
            <a:srgbClr val="E85B40"/>
          </a:solidFill>
          <a:ln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56232"/>
            <a:ext cx="29900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代码打点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48840"/>
            <a:ext cx="2990088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# @governed_symbol ...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frontend_kernel/contracts.py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knowledge_base_framework/workbench.py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knowledge_base_runtime/app.py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knowledge_base_runtime/backend.py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274320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9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2743200" cy="128016"/>
          </a:xfrm>
          <a:prstGeom prst="rect">
            <a:avLst/>
          </a:prstGeom>
          <a:solidFill>
            <a:srgbClr val="293B41"/>
          </a:solidFill>
          <a:ln>
            <a:solidFill>
              <a:srgbClr val="29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1416" y="1856232"/>
            <a:ext cx="24871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治理闭包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48840"/>
            <a:ext cx="2487168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build_governance_closure(project)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structural_objects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candidates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role_bindings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strict_zone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upstream_closure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691640"/>
            <a:ext cx="379476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1691640"/>
            <a:ext cx="3794760" cy="128016"/>
          </a:xfrm>
          <a:prstGeom prst="rect">
            <a:avLst/>
          </a:prstGeom>
          <a:solidFill>
            <a:srgbClr val="E4AF49"/>
          </a:solidFill>
          <a:ln>
            <a:solidFill>
              <a:srgbClr val="E4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34656" y="1856232"/>
            <a:ext cx="35387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治理证据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4656" y="2148840"/>
            <a:ext cx="3538728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kb.frontend.surface_contract: framework=3 / product=7 / impl=0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kb.answer.behavior: framework=4 / product=3 / impl=1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这些来源会继续进入 governance_manifest.json / governance_tree.json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77639" y="3383280"/>
            <a:ext cx="365761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86600" y="3383280"/>
            <a:ext cx="320040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771"/>
                </a:solidFill>
                <a:latin typeface="Aptos"/>
              </a:rPr>
              <a:t>关键文件：src/project_runtime/governance.py 与 projects/knowledge_base_basic/generated/governance_manifest.json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5B40"/>
                </a:solidFill>
                <a:latin typeface="Aptos"/>
              </a:rPr>
              <a:t>06 / 例子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1262D"/>
                </a:solidFill>
                <a:latin typeface="Aptos Display"/>
              </a:rPr>
              <a:t>拿 /api/knowledge/product-spec 这条路由，看一条完整的一一对应链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16771"/>
                </a:solidFill>
                <a:latin typeface="Aptos"/>
              </a:rPr>
              <a:t>这是最适合入门的例子，因为它同时穿过 route、implementation effect、backend_spec 和 runtime route。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11680"/>
            <a:ext cx="1664208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011680"/>
            <a:ext cx="1664208" cy="128016"/>
          </a:xfrm>
          <a:prstGeom prst="rect">
            <a:avLst/>
          </a:prstGeom>
          <a:solidFill>
            <a:srgbClr val="E85B40"/>
          </a:solidFill>
          <a:ln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176272"/>
            <a:ext cx="14081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1 / product_spec/route.toml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468880"/>
            <a:ext cx="1408176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定义 route.api_prefix = /api/knowledge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3154680"/>
            <a:ext cx="228599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87167" y="2011680"/>
            <a:ext cx="1664208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87167" y="2011680"/>
            <a:ext cx="1664208" cy="128016"/>
          </a:xfrm>
          <a:prstGeom prst="rect">
            <a:avLst/>
          </a:prstGeom>
          <a:solidFill>
            <a:srgbClr val="287476"/>
          </a:solidFill>
          <a:ln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15183" y="2176272"/>
            <a:ext cx="14081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2 / implementation_config.toml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3" y="2468880"/>
            <a:ext cx="1408176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定义 evidence.product_spec_endpoint = /api/knowledge/product-spec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51375" y="3154680"/>
            <a:ext cx="228599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79974" y="2011680"/>
            <a:ext cx="1664208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9974" y="2011680"/>
            <a:ext cx="1664208" cy="128016"/>
          </a:xfrm>
          <a:prstGeom prst="rect">
            <a:avLst/>
          </a:prstGeom>
          <a:solidFill>
            <a:srgbClr val="E85B40"/>
          </a:solidFill>
          <a:ln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0" y="2176272"/>
            <a:ext cx="14081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3 / knowledge_base.py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0" y="2468880"/>
            <a:ext cx="1408176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_validate_implementation_config() 保证 endpoint stay under api_prefix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44182" y="3154680"/>
            <a:ext cx="228599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1" y="2011680"/>
            <a:ext cx="1664208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1" y="2011680"/>
            <a:ext cx="1664208" cy="128016"/>
          </a:xfrm>
          <a:prstGeom prst="rect">
            <a:avLst/>
          </a:prstGeom>
          <a:solidFill>
            <a:srgbClr val="287476"/>
          </a:solidFill>
          <a:ln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797" y="2176272"/>
            <a:ext cx="14081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4 / knowledge_base.py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797" y="2468880"/>
            <a:ext cx="1408176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_build_backend_spec() 写入 backend_spec.transport.product_spec_endpoint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36989" y="3154680"/>
            <a:ext cx="228599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65588" y="2011680"/>
            <a:ext cx="1664208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65588" y="2011680"/>
            <a:ext cx="1664208" cy="128016"/>
          </a:xfrm>
          <a:prstGeom prst="rect">
            <a:avLst/>
          </a:prstGeom>
          <a:solidFill>
            <a:srgbClr val="E85B40"/>
          </a:solidFill>
          <a:ln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4" y="2176272"/>
            <a:ext cx="14081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5 / app.py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4" y="2468880"/>
            <a:ext cx="1408176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@app.get(transport.product_spec_endpoint) 真正挂路由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829796" y="3154680"/>
            <a:ext cx="228599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058395" y="2011680"/>
            <a:ext cx="1664208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58395" y="2011680"/>
            <a:ext cx="1664208" cy="128016"/>
          </a:xfrm>
          <a:prstGeom prst="rect">
            <a:avLst/>
          </a:prstGeom>
          <a:solidFill>
            <a:srgbClr val="287476"/>
          </a:solidFill>
          <a:ln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86411" y="2176272"/>
            <a:ext cx="14081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6 / generation_manifest.json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86411" y="2468880"/>
            <a:ext cx="1408176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configuration_effects 记录这条 effect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4937760"/>
            <a:ext cx="100584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78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97280" y="4937760"/>
            <a:ext cx="10058400" cy="128016"/>
          </a:xfrm>
          <a:prstGeom prst="rect">
            <a:avLst/>
          </a:prstGeom>
          <a:solidFill>
            <a:srgbClr val="37846C"/>
          </a:solidFill>
          <a:ln>
            <a:solidFill>
              <a:srgbClr val="378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25296" y="5102352"/>
            <a:ext cx="9802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一句话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5296" y="5394960"/>
            <a:ext cx="9802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这里不是“代码自己决定路由”，而是“上游两层配置先决定，再由编译器校验并写进 runtime 可消费结构”。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771"/>
                </a:solidFill>
                <a:latin typeface="Aptos"/>
              </a:rPr>
              <a:t>这个例子最适合顺着读：route.toml -&gt; implementation_config.toml -&gt; knowledge_base.py -&gt; app.py -&gt; generation_manifest.json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5B40"/>
                </a:solidFill>
                <a:latin typeface="Aptos"/>
              </a:rPr>
              <a:t>07 / 例子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1262D"/>
                </a:solidFill>
                <a:latin typeface="Aptos Display"/>
              </a:rPr>
              <a:t>拿 kb.answer.behavior 看“从代码反查回三层上游”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16771"/>
                </a:solidFill>
                <a:latin typeface="Aptos"/>
              </a:rPr>
              <a:t>这是当前最能体现治理链价值的例子，因为它不是简单路由，而是回答行为本身。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65176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2651760" cy="128016"/>
          </a:xfrm>
          <a:prstGeom prst="rect">
            <a:avLst/>
          </a:prstGeom>
          <a:solidFill>
            <a:srgbClr val="E85B40"/>
          </a:solidFill>
          <a:ln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01952"/>
            <a:ext cx="23957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代码落点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94560"/>
            <a:ext cx="2395728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src/knowledge_base_runtime/backend.py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@governed_symbol id=kb.answer.behavior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answer generation / citations / return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737360"/>
            <a:ext cx="251460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1737360"/>
            <a:ext cx="2514600" cy="128016"/>
          </a:xfrm>
          <a:prstGeom prst="rect">
            <a:avLst/>
          </a:prstGeom>
          <a:solidFill>
            <a:srgbClr val="287476"/>
          </a:solidFill>
          <a:ln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5616" y="1901952"/>
            <a:ext cx="22585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framework 来源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6" y="2194560"/>
            <a:ext cx="2258568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framework/knowledge_base/L2-M0-知识库工作台场景模块.md#R1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framework/knowledge_base/L2-M0-知识库工作台场景模块.md#R2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framework/knowledge_base/L2-M0-知识库工作台场景模块.md#R3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framework/knowledge_base/L2-M0-知识库工作台场景模块.md#R4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37360"/>
            <a:ext cx="224028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2240280" cy="128016"/>
          </a:xfrm>
          <a:prstGeom prst="rect">
            <a:avLst/>
          </a:prstGeom>
          <a:solidFill>
            <a:srgbClr val="E4AF49"/>
          </a:solidFill>
          <a:ln>
            <a:solidFill>
              <a:srgbClr val="E4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1901952"/>
            <a:ext cx="1984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product 来源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2194560"/>
            <a:ext cx="1984248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chat &lt;- chat.toml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context &lt;- context.toml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return &lt;- return.toml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737360"/>
            <a:ext cx="242316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78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0" y="1737360"/>
            <a:ext cx="2423160" cy="128016"/>
          </a:xfrm>
          <a:prstGeom prst="rect">
            <a:avLst/>
          </a:prstGeom>
          <a:solidFill>
            <a:srgbClr val="37846C"/>
          </a:solidFill>
          <a:ln>
            <a:solidFill>
              <a:srgbClr val="378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7696" y="1901952"/>
            <a:ext cx="21671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semantic 期望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194560"/>
            <a:ext cx="2167128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citation_style = inline_refs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citation_required = True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return_path_prefix = /knowledge-base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document_path_prefix = /knowledge-bases/details/documents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83280" y="3383280"/>
            <a:ext cx="274320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72200" y="3383280"/>
            <a:ext cx="228600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641080" y="3383280"/>
            <a:ext cx="228600" cy="0"/>
          </a:xfrm>
          <a:prstGeom prst="line">
            <a:avLst/>
          </a:prstGeom>
          <a:ln w="25400">
            <a:solidFill>
              <a:srgbClr val="293B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771"/>
                </a:solidFill>
                <a:latin typeface="Aptos"/>
              </a:rPr>
              <a:t>这就是“代码对象 -&gt; governance object -&gt; framework/product/implementation sources” 的真实反查路径。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5B40"/>
                </a:solidFill>
                <a:latin typeface="Aptos"/>
              </a:rPr>
              <a:t>08 / 怎么看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1262D"/>
                </a:solidFill>
                <a:latin typeface="Aptos Display"/>
              </a:rPr>
              <a:t>如果你要自己顺着搞清楚，一般按这 3 条路径看就够了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16771"/>
                </a:solidFill>
                <a:latin typeface="Aptos"/>
              </a:rPr>
              <a:t>不要先盯一大坨 JSON；先确定你是在做“上游追下游”，还是“下游反查上游”。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128016"/>
          </a:xfrm>
          <a:prstGeom prst="rect">
            <a:avLst/>
          </a:prstGeom>
          <a:solidFill>
            <a:srgbClr val="E85B40"/>
          </a:solidFill>
          <a:ln>
            <a:solidFill>
              <a:srgbClr val="E85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10512"/>
            <a:ext cx="3127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路径一：从上往下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03120"/>
            <a:ext cx="3127248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product_spec / implementation_config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knowledge_base.py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generation_manifest.json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frontend.py / backend.py / app.py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适合回答：这个配置最后变成了什么代码？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383280" cy="128016"/>
          </a:xfrm>
          <a:prstGeom prst="rect">
            <a:avLst/>
          </a:prstGeom>
          <a:solidFill>
            <a:srgbClr val="287476"/>
          </a:solidFill>
          <a:ln>
            <a:solidFill>
              <a:srgbClr val="287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810512"/>
            <a:ext cx="3127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路径二：从下往上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103120"/>
            <a:ext cx="3127248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@governed_symbol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governance_manifest.json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sources.framework / product / implementation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适合回答：这个函数/行为到底来自哪里？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383280" cy="128016"/>
          </a:xfrm>
          <a:prstGeom prst="rect">
            <a:avLst/>
          </a:prstGeom>
          <a:solidFill>
            <a:srgbClr val="E4AF49"/>
          </a:solidFill>
          <a:ln>
            <a:solidFill>
              <a:srgbClr val="E4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1810512"/>
            <a:ext cx="3127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62D"/>
                </a:solidFill>
                <a:latin typeface="Aptos"/>
              </a:rPr>
              <a:t>路径三：查配置生效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4736" y="2103120"/>
            <a:ext cx="3127248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implementation_config field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generation_manifest.configuration_effects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targets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-&gt; runtime 消费点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616771"/>
                </a:solidFill>
                <a:latin typeface="Aptos"/>
              </a:rPr>
              <a:t>适合回答：这是不是死配置？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771"/>
                </a:solidFill>
                <a:latin typeface="Aptos"/>
              </a:rPr>
              <a:t>推荐先配合 docs/框架到代码映射与反查覆盖说明.md 一起看。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